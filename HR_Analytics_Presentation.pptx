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6200-E943-43BE-816A-68BA669B2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73E9A-DA76-42CC-BB73-42FA97AC0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F771-EC7C-4420-BD0A-11C04BE5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379C-8346-42D8-8A42-9138A749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523F9-0160-40BD-A9E4-9ADCC290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8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56C1-F167-4269-9861-C7D0C87C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64401-CFF1-46FC-A9ED-77B7F4F3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7C58B-29BF-4794-941F-58245DCBC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24E9-A304-48FD-BC5F-46195A841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A42E9-19F1-4D2E-883F-54D28F25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18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A5A6-8EE7-4230-BD46-92A395C6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23108-C2E6-46DE-955A-41F0BC580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2436-7301-4CA0-B83E-CA275F32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5163E-FA5E-4103-A5CA-8A395B57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81D59-A43A-487F-B727-CDDDAA36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99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11DD-2B0E-46D6-8F2B-38B0840A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8A948-C7CE-40C1-B035-AF4D6863F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95429-0F28-4086-B605-4389C8208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903C9-2ED5-4BA2-97A7-073CDE25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DC025-4BF3-44F0-A213-3DAC547D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90D12-691A-49C7-B106-A2B5B59D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61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9186-201B-4712-A67E-73FB8729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963C7-0FD1-43B2-873E-ADE5B96FE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51344-34FF-4EF3-9F47-FA8664F5C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BA7D1-AF67-4AAE-B36D-D6C0AA4C7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1149A-3E53-4BB7-B8B3-8FC9767BD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E607C-DF7B-484F-9FEA-AC50B7FD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924E4-A01B-43AE-94F6-D23EC606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3378D-0D09-4D30-B09D-0906940D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23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46F6-8AEC-4F2E-AEB2-8BD6F220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03809-FA8F-486B-92B2-F096067C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531C5-F30C-469C-BF3E-F5CE7458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45FF5-CD36-4CF0-B9B7-F74B32EC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05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0370B-361E-4FBB-9440-98C76FA4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BA4F4-C172-420B-B96C-791EE34F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92C9E-0D6A-4849-B435-7FCDECB1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65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073D-BF92-4E2B-AF81-B179E33A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409D-F93B-4159-A923-D30C9ABF3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B0E66-527B-4694-AF8F-EE7D227D3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92644-15A1-43E1-9B8F-E7CBA90C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AF18C-63B3-462D-92C8-33B22534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475C4-DE94-46F7-9D50-5575003B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84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29DD-593C-4A11-8370-87CB9349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F4BF7-4F3F-4F50-886F-CB1C12BDF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A7BE7-1800-4066-AE42-2B23130E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0FD0F-18F7-45E0-B9A0-8D78B403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5793B-741C-45D6-86C5-60DEDEA5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FC53B-6505-4C0B-ABCD-9BF76EF6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19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BCC8-E1B5-4746-8B74-1A467539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4BE0F-59E1-4EAD-A01D-BB76C1BFA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C957F-C15A-4332-87AD-05BBAB70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4BF3-FF03-4D28-8CF3-1041A58A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A092A-8753-491F-90E4-88647EC4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32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EBBD65-1A74-4BD7-BCEC-4F0D53649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99CD6-F537-408F-9B37-666C461CF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3E3F6-9377-4317-8BD3-000E6B16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B14F6-6AA1-468A-A3A1-A95EB2C1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261B-184F-48B0-82FD-34348B34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0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928A1-CE9C-4E64-95A6-8FBB678D5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2F2A0-3419-43A9-B19C-5CCB7DD51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B4C76-CCFF-44CD-AE11-F2288F24D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02632-CB4F-41B9-AB1D-D59B76478FB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60DE8-5614-4F40-8943-5E77CAF9B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B8D98-7433-4F2E-A2DD-B7BE17638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0869-6707-435D-BC43-24D882493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56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7E0E-BBF2-4BE5-88D0-0878A75C6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2400"/>
            <a:ext cx="9144000" cy="2433320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000" b="1" i="0" u="none" strike="noStrike" baseline="0" dirty="0">
                <a:solidFill>
                  <a:schemeClr val="accent4">
                    <a:lumMod val="75000"/>
                  </a:schemeClr>
                </a:solidFill>
                <a:latin typeface="Cooper Black" panose="0208090404030B020404" pitchFamily="18" charset="0"/>
              </a:rPr>
              <a:t>Employee Attrition &amp; Performance Analysis </a:t>
            </a:r>
            <a:br>
              <a:rPr lang="en-US" sz="4000" b="1" i="0" u="none" strike="noStrike" baseline="0" dirty="0">
                <a:solidFill>
                  <a:schemeClr val="accent4">
                    <a:lumMod val="75000"/>
                  </a:schemeClr>
                </a:solidFill>
                <a:latin typeface="Cooper Black" panose="0208090404030B020404" pitchFamily="18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U</a:t>
            </a:r>
            <a:r>
              <a:rPr lang="en-US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sing MySQL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FB4F4-49F8-487C-A321-CEA049718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0080"/>
            <a:ext cx="8869680" cy="1015682"/>
          </a:xfrm>
        </p:spPr>
        <p:txBody>
          <a:bodyPr>
            <a:normAutofit/>
          </a:bodyPr>
          <a:lstStyle/>
          <a:p>
            <a:pPr algn="r"/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BY POORANI</a:t>
            </a:r>
            <a:endParaRPr lang="en-IN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58E706B-752C-41B9-BB7C-6FDF03C4BBD2}"/>
              </a:ext>
            </a:extLst>
          </p:cNvPr>
          <p:cNvSpPr/>
          <p:nvPr/>
        </p:nvSpPr>
        <p:spPr>
          <a:xfrm>
            <a:off x="1798320" y="4053840"/>
            <a:ext cx="8595360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911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AAA9-18FC-44D7-A160-9EB208460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30237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 algn="l"/>
            <a:r>
              <a:rPr lang="en-IN" sz="2800" b="0" i="0" u="none" strike="noStrike" baseline="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sz="2800" b="1" i="0" u="none" strike="noStrike" baseline="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PROJECT OBJECTIVE </a:t>
            </a:r>
            <a:endParaRPr lang="en-IN" sz="2800" b="1" dirty="0">
              <a:solidFill>
                <a:schemeClr val="accent4">
                  <a:lumMod val="75000"/>
                </a:schemeClr>
              </a:solidFill>
              <a:latin typeface="Bahnschrift" panose="020B0502040204020203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AA835-1C7D-4B39-ACCB-51731F5C4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4719"/>
            <a:ext cx="9144000" cy="165576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Analyze workforce demographics, salary patterns, performance ratings, and attrition trends using MySQL queries for HR Analytics in an organization.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037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FB6509-4FD5-420F-A430-0BF78D6FB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4238"/>
            <a:ext cx="9144000" cy="369792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analysis is done by loading and querying the Dataset - </a:t>
            </a:r>
            <a:r>
              <a:rPr lang="en-IN" sz="2000" kern="1800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IBM HR Analytics Employee Attrition &amp; Performance from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Kaggle into MySQL.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contains the data of 1,470 employees of the organization.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 fields taken for analysis are Age, Attrition, Department,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PerformanceRating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YearsAtCompany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employees in the organization.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6F0A74-E0FE-405E-9306-FFE98D30A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30237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 algn="l"/>
            <a:r>
              <a:rPr lang="en-IN" sz="2800" b="0" i="0" u="none" strike="noStrike" baseline="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sz="2800" b="1" i="0" u="none" strike="noStrike" baseline="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DATASET SUMMARY</a:t>
            </a:r>
            <a:endParaRPr lang="en-IN" sz="2800" b="1" dirty="0">
              <a:solidFill>
                <a:schemeClr val="accent4">
                  <a:lumMod val="75000"/>
                </a:schemeClr>
              </a:solidFill>
              <a:latin typeface="Bahnschrift" panose="020B0502040204020203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5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49A4-0205-4240-AC95-607690F9929C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630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BUSINESS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7DFCD-46E1-45FC-A885-4EC42291E705}"/>
              </a:ext>
            </a:extLst>
          </p:cNvPr>
          <p:cNvSpPr txBox="1"/>
          <p:nvPr/>
        </p:nvSpPr>
        <p:spPr>
          <a:xfrm>
            <a:off x="1524000" y="2175897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strike="noStrike" baseline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 </a:t>
            </a:r>
            <a:r>
              <a:rPr lang="en-IN" sz="2000" b="1" i="0" u="none" strike="noStrike" baseline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 employees leave?</a:t>
            </a:r>
          </a:p>
          <a:p>
            <a:pPr algn="l"/>
            <a:endParaRPr lang="en-IN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Low pay, lack of career advancement, Overwork, Low Job Satisfaction, </a:t>
            </a:r>
          </a:p>
          <a:p>
            <a:pPr algn="l"/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Work Environment, Work-Life Imbalance, Bad Management, Long Commute, Better, Job hop based on Age &amp; Experience.</a:t>
            </a:r>
          </a:p>
          <a:p>
            <a:pPr algn="l"/>
            <a:endParaRPr lang="en-IN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2000" b="1" i="0" u="none" strike="noStrike" baseline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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Does salary impact attrition?</a:t>
            </a:r>
          </a:p>
          <a:p>
            <a:pPr algn="l"/>
            <a:endParaRPr lang="en-IN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Yes, Strongly, Low pay could be a major reason for attrition.</a:t>
            </a:r>
          </a:p>
          <a:p>
            <a:pPr algn="l"/>
            <a:endParaRPr lang="en-IN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2000" b="1" i="0" u="none" strike="noStrike" baseline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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department has high turnover?</a:t>
            </a:r>
            <a:endParaRPr lang="en-IN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Sales has the highest turnover at 20.63%.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82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B41CBA-85AE-40E1-86D6-746F54437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1956"/>
            <a:ext cx="9144000" cy="520744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1.Retrieve all employees who left the company.</a:t>
            </a:r>
          </a:p>
          <a:p>
            <a:pPr algn="l">
              <a:lnSpc>
                <a:spcPct val="100000"/>
              </a:lnSpc>
            </a:pP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EmployeeNumber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employee_attrition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Attrition = 'Yes’;</a:t>
            </a:r>
          </a:p>
          <a:p>
            <a:pPr algn="l">
              <a:lnSpc>
                <a:spcPct val="100000"/>
              </a:lnSpc>
            </a:pP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6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237 rows retrieved</a:t>
            </a:r>
          </a:p>
          <a:p>
            <a:pPr algn="l">
              <a:lnSpc>
                <a:spcPct val="100000"/>
              </a:lnSpc>
            </a:pPr>
            <a:r>
              <a:rPr lang="en-IN" sz="16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6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 of 1,470 employees, </a:t>
            </a:r>
            <a:br>
              <a:rPr lang="en-US" sz="16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237 have left the company. </a:t>
            </a:r>
          </a:p>
          <a:p>
            <a:pPr algn="l">
              <a:lnSpc>
                <a:spcPct val="100000"/>
              </a:lnSpc>
            </a:pPr>
            <a:r>
              <a:rPr lang="en-US" sz="16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Attrition rate ~16.1%.</a:t>
            </a:r>
          </a:p>
          <a:p>
            <a:pPr algn="l">
              <a:lnSpc>
                <a:spcPct val="100000"/>
              </a:lnSpc>
            </a:pPr>
            <a:endParaRPr lang="en-US" sz="1800" b="1" i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2.Count total employees in each department.</a:t>
            </a:r>
          </a:p>
          <a:p>
            <a:pPr algn="l">
              <a:lnSpc>
                <a:spcPct val="100000"/>
              </a:lnSpc>
            </a:pP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Department, COUNT(*) AS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Employee_Count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employee_attrition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 BY Department;</a:t>
            </a:r>
          </a:p>
          <a:p>
            <a:pPr algn="l">
              <a:lnSpc>
                <a:spcPct val="100000"/>
              </a:lnSpc>
            </a:pPr>
            <a:r>
              <a:rPr lang="en-IN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0DC5FC-AFE3-462F-8E5C-B4DFA75A0788}"/>
              </a:ext>
            </a:extLst>
          </p:cNvPr>
          <p:cNvSpPr txBox="1">
            <a:spLocks/>
          </p:cNvSpPr>
          <p:nvPr/>
        </p:nvSpPr>
        <p:spPr>
          <a:xfrm>
            <a:off x="1524000" y="528766"/>
            <a:ext cx="9144000" cy="630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Queries – Basic level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DB4484-853D-40F8-B96A-573E0826F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008661"/>
              </p:ext>
            </p:extLst>
          </p:nvPr>
        </p:nvGraphicFramePr>
        <p:xfrm>
          <a:off x="1844040" y="2305779"/>
          <a:ext cx="2392680" cy="125133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392680">
                  <a:extLst>
                    <a:ext uri="{9D8B030D-6E8A-4147-A177-3AD203B41FA5}">
                      <a16:colId xmlns:a16="http://schemas.microsoft.com/office/drawing/2014/main" val="4015248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6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027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IN" sz="16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21248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4</a:t>
                      </a:r>
                      <a:endParaRPr lang="en-IN" sz="16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03967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…. 2055</a:t>
                      </a:r>
                      <a:endParaRPr lang="en-IN" sz="16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808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CA7DB6-C9D6-4AF9-9831-997E8D862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163071"/>
              </p:ext>
            </p:extLst>
          </p:nvPr>
        </p:nvGraphicFramePr>
        <p:xfrm>
          <a:off x="1844040" y="5251066"/>
          <a:ext cx="4202538" cy="10476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1269">
                  <a:extLst>
                    <a:ext uri="{9D8B030D-6E8A-4147-A177-3AD203B41FA5}">
                      <a16:colId xmlns:a16="http://schemas.microsoft.com/office/drawing/2014/main" val="1060908136"/>
                    </a:ext>
                  </a:extLst>
                </a:gridCol>
                <a:gridCol w="2101269">
                  <a:extLst>
                    <a:ext uri="{9D8B030D-6E8A-4147-A177-3AD203B41FA5}">
                      <a16:colId xmlns:a16="http://schemas.microsoft.com/office/drawing/2014/main" val="410579616"/>
                    </a:ext>
                  </a:extLst>
                </a:gridCol>
              </a:tblGrid>
              <a:tr h="261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Employee_Count</a:t>
                      </a:r>
                      <a:endParaRPr lang="en-IN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86688"/>
                  </a:ext>
                </a:extLst>
              </a:tr>
              <a:tr h="261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63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594975"/>
                  </a:ext>
                </a:extLst>
              </a:tr>
              <a:tr h="261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961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541006"/>
                  </a:ext>
                </a:extLst>
              </a:tr>
              <a:tr h="261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446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4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43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ECB81D-B5A5-4E6D-A720-47BF14CBA795}"/>
              </a:ext>
            </a:extLst>
          </p:cNvPr>
          <p:cNvSpPr txBox="1">
            <a:spLocks/>
          </p:cNvSpPr>
          <p:nvPr/>
        </p:nvSpPr>
        <p:spPr>
          <a:xfrm>
            <a:off x="1524000" y="657638"/>
            <a:ext cx="9144000" cy="577364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3.Find the average salary of employees.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Department, AVG(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as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AverageSalary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employee_attrition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 BY Department;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b="1" i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b="1" i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b="1" i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b="1" i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List employees with more than 5 years at the company.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EmployeeNumber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YearsAtCompany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employee_attrition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sz="18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YearsAtCompany</a:t>
            </a:r>
            <a:r>
              <a:rPr lang="en-US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5;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b="1" i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694 out of 1,470 employees (~47.2%) have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been with the company for more than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5 years.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Most employees cluster around 6–10 years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in this filtered set</a:t>
            </a:r>
            <a:endParaRPr lang="en-IN" sz="18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F12D5F-2EAB-4D3F-AE26-698958853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71302"/>
              </p:ext>
            </p:extLst>
          </p:nvPr>
        </p:nvGraphicFramePr>
        <p:xfrm>
          <a:off x="1676400" y="1914556"/>
          <a:ext cx="5257800" cy="11981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683061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2713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AverageSalary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350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6654.51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06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6281.25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27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6959.17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7544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15ED9B-2FAC-409B-9299-2FE10E374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32737"/>
              </p:ext>
            </p:extLst>
          </p:nvPr>
        </p:nvGraphicFramePr>
        <p:xfrm>
          <a:off x="1676400" y="4766149"/>
          <a:ext cx="3901440" cy="14342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50282031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3804543844"/>
                    </a:ext>
                  </a:extLst>
                </a:gridCol>
              </a:tblGrid>
              <a:tr h="1873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YearsAtCompany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873809"/>
                  </a:ext>
                </a:extLst>
              </a:tr>
              <a:tr h="1873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42667"/>
                  </a:ext>
                </a:extLst>
              </a:tr>
              <a:tr h="1128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286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41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…  2024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49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2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1A8D61C1-C725-4CFA-8404-2F1343E7BBEE}"/>
              </a:ext>
            </a:extLst>
          </p:cNvPr>
          <p:cNvSpPr txBox="1">
            <a:spLocks/>
          </p:cNvSpPr>
          <p:nvPr/>
        </p:nvSpPr>
        <p:spPr>
          <a:xfrm>
            <a:off x="1524000" y="657638"/>
            <a:ext cx="9144000" cy="577364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5.Display employees earning above company average salary.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0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EmployeeNumber</a:t>
            </a:r>
            <a:r>
              <a:rPr lang="en-US" sz="20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employee_attrition</a:t>
            </a:r>
            <a:r>
              <a:rPr lang="en-US" sz="20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20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(SELECT AVG(</a:t>
            </a:r>
            <a:r>
              <a:rPr lang="en-US" sz="20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20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FROM </a:t>
            </a:r>
            <a:r>
              <a:rPr lang="en-US" sz="2000" b="1" i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employee_attrition</a:t>
            </a:r>
            <a:r>
              <a:rPr lang="en-US" sz="2000" b="1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Monthly Income: $6,502.93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493 out of 1,470 employees (~33.5%) earn above the company average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D4FA4B-4BDE-4234-90F7-9D412A322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515524"/>
              </p:ext>
            </p:extLst>
          </p:nvPr>
        </p:nvGraphicFramePr>
        <p:xfrm>
          <a:off x="1844040" y="2951369"/>
          <a:ext cx="1813560" cy="1341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4214318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22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952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21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23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557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…. 2062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169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65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07EB-4532-4D49-A1A8-2DF4F34574C6}"/>
              </a:ext>
            </a:extLst>
          </p:cNvPr>
          <p:cNvSpPr txBox="1">
            <a:spLocks/>
          </p:cNvSpPr>
          <p:nvPr/>
        </p:nvSpPr>
        <p:spPr>
          <a:xfrm>
            <a:off x="1524000" y="498286"/>
            <a:ext cx="9144000" cy="630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Queries – Intermediate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1FB40-CC98-4EBB-BCD9-93D1EE5A50E9}"/>
              </a:ext>
            </a:extLst>
          </p:cNvPr>
          <p:cNvSpPr txBox="1">
            <a:spLocks/>
          </p:cNvSpPr>
          <p:nvPr/>
        </p:nvSpPr>
        <p:spPr>
          <a:xfrm>
            <a:off x="1524000" y="1480598"/>
            <a:ext cx="9144000" cy="525548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6.Calculate attrition rate by department.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8100C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Total_Employees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Attrition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'Yes'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Attrited_Employees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Attrition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'Yes'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100.0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Attrition_Rate_Percent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employee_attrition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4C12DC-D02A-4479-B766-C4FBA9DDB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860334"/>
              </p:ext>
            </p:extLst>
          </p:nvPr>
        </p:nvGraphicFramePr>
        <p:xfrm>
          <a:off x="1524000" y="4997958"/>
          <a:ext cx="9144000" cy="10734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5917">
                  <a:extLst>
                    <a:ext uri="{9D8B030D-6E8A-4147-A177-3AD203B41FA5}">
                      <a16:colId xmlns:a16="http://schemas.microsoft.com/office/drawing/2014/main" val="2131784186"/>
                    </a:ext>
                  </a:extLst>
                </a:gridCol>
                <a:gridCol w="1933176">
                  <a:extLst>
                    <a:ext uri="{9D8B030D-6E8A-4147-A177-3AD203B41FA5}">
                      <a16:colId xmlns:a16="http://schemas.microsoft.com/office/drawing/2014/main" val="2310446197"/>
                    </a:ext>
                  </a:extLst>
                </a:gridCol>
                <a:gridCol w="1822920">
                  <a:extLst>
                    <a:ext uri="{9D8B030D-6E8A-4147-A177-3AD203B41FA5}">
                      <a16:colId xmlns:a16="http://schemas.microsoft.com/office/drawing/2014/main" val="2500922623"/>
                    </a:ext>
                  </a:extLst>
                </a:gridCol>
                <a:gridCol w="2851987">
                  <a:extLst>
                    <a:ext uri="{9D8B030D-6E8A-4147-A177-3AD203B41FA5}">
                      <a16:colId xmlns:a16="http://schemas.microsoft.com/office/drawing/2014/main" val="290592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Total_Employees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Attrited_Employees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Attrition_Rate_Percent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07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63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19.05%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017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961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133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13.84%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08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446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20.63%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168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06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C6B92F1-35E6-4F07-8A13-0A12EA8BB34F}"/>
              </a:ext>
            </a:extLst>
          </p:cNvPr>
          <p:cNvSpPr txBox="1">
            <a:spLocks/>
          </p:cNvSpPr>
          <p:nvPr/>
        </p:nvSpPr>
        <p:spPr>
          <a:xfrm>
            <a:off x="1524000" y="511699"/>
            <a:ext cx="9144000" cy="525548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7.Find top 3 highest paid employees in each department.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EmployeeNumber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EmployeeNumber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ROW_NUMBER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PARTITION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rnk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employee_attrition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ranked 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rnk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&lt;=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3617FD-70EA-4354-BC76-A671E741D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52651"/>
              </p:ext>
            </p:extLst>
          </p:nvPr>
        </p:nvGraphicFramePr>
        <p:xfrm>
          <a:off x="1645920" y="3782171"/>
          <a:ext cx="8663940" cy="2683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7980">
                  <a:extLst>
                    <a:ext uri="{9D8B030D-6E8A-4147-A177-3AD203B41FA5}">
                      <a16:colId xmlns:a16="http://schemas.microsoft.com/office/drawing/2014/main" val="653420823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4063899964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1713978533"/>
                    </a:ext>
                  </a:extLst>
                </a:gridCol>
              </a:tblGrid>
              <a:tr h="1099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MonthlyIncome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61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1338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19717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572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1625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19658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737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1973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19636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06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259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19999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614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1035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19973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75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1191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19943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623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1282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19847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142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1038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19845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1740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19833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826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82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1739193-D838-4DB7-BD27-338077AC38AB}"/>
              </a:ext>
            </a:extLst>
          </p:cNvPr>
          <p:cNvSpPr txBox="1">
            <a:spLocks/>
          </p:cNvSpPr>
          <p:nvPr/>
        </p:nvSpPr>
        <p:spPr>
          <a:xfrm>
            <a:off x="1417320" y="207934"/>
            <a:ext cx="9144000" cy="644213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1800" b="1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8.Show department-wise average performance rating.</a:t>
            </a:r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PerformanceRating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Average_Performance_Rating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9.Identify employees earning below department average salary.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EmployeeNumber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employee_attrition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		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Averages used for comparison:</a:t>
            </a:r>
            <a:endParaRPr lang="en-IN" sz="1800" b="1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51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AVG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employee_attrition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 </a:t>
            </a:r>
            <a:r>
              <a:rPr lang="en-IN" sz="1800" dirty="0"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IN" sz="1800" dirty="0" err="1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solidFill>
                <a:srgbClr val="2B303B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solidFill>
                <a:srgbClr val="2B303B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2B303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	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987 out of 1,470 employees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					</a:t>
            </a:r>
            <a:r>
              <a:rPr lang="en-IN" sz="14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(~67.1%) earn below their department average</a:t>
            </a:r>
            <a:endParaRPr lang="en-IN" sz="14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355217-01C6-480C-9351-79EBE0B50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1886"/>
              </p:ext>
            </p:extLst>
          </p:nvPr>
        </p:nvGraphicFramePr>
        <p:xfrm>
          <a:off x="1630680" y="1773682"/>
          <a:ext cx="7284720" cy="948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2360">
                  <a:extLst>
                    <a:ext uri="{9D8B030D-6E8A-4147-A177-3AD203B41FA5}">
                      <a16:colId xmlns:a16="http://schemas.microsoft.com/office/drawing/2014/main" val="2269306841"/>
                    </a:ext>
                  </a:extLst>
                </a:gridCol>
                <a:gridCol w="3642360">
                  <a:extLst>
                    <a:ext uri="{9D8B030D-6E8A-4147-A177-3AD203B41FA5}">
                      <a16:colId xmlns:a16="http://schemas.microsoft.com/office/drawing/2014/main" val="3845259215"/>
                    </a:ext>
                  </a:extLst>
                </a:gridCol>
              </a:tblGrid>
              <a:tr h="237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Average_Performance_Rating</a:t>
                      </a:r>
                      <a:endParaRPr lang="en-IN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5452"/>
                  </a:ext>
                </a:extLst>
              </a:tr>
              <a:tr h="237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3.14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076727"/>
                  </a:ext>
                </a:extLst>
              </a:tr>
              <a:tr h="237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3.16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309618"/>
                  </a:ext>
                </a:extLst>
              </a:tr>
              <a:tr h="237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3.14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242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B90DB3-59D9-46DA-A8F2-04B6FB22D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66773"/>
              </p:ext>
            </p:extLst>
          </p:nvPr>
        </p:nvGraphicFramePr>
        <p:xfrm>
          <a:off x="6096000" y="4274103"/>
          <a:ext cx="4267200" cy="948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802615868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80364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Avg</a:t>
                      </a: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Monthly Income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7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6,654.51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655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6,281.25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1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6,959.17</a:t>
                      </a:r>
                      <a:endParaRPr lang="en-IN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9203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C1DC1D-1C0A-44ED-B776-F59262070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872980"/>
              </p:ext>
            </p:extLst>
          </p:nvPr>
        </p:nvGraphicFramePr>
        <p:xfrm>
          <a:off x="1630680" y="5527066"/>
          <a:ext cx="5257800" cy="1202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8549698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27264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22163989"/>
                    </a:ext>
                  </a:extLst>
                </a:gridCol>
              </a:tblGrid>
              <a:tr h="3164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MonthlyIncome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02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1714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1555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517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1499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2064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820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……. 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3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947</a:t>
                      </a:r>
                      <a:endParaRPr lang="en-IN" sz="1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  <a:endParaRPr lang="en-IN" sz="11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6932</a:t>
                      </a:r>
                      <a:endParaRPr lang="en-IN" sz="1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25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442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90C51-492E-4124-8901-4268D14A53B1}"/>
              </a:ext>
            </a:extLst>
          </p:cNvPr>
          <p:cNvSpPr txBox="1"/>
          <p:nvPr/>
        </p:nvSpPr>
        <p:spPr>
          <a:xfrm>
            <a:off x="1341120" y="227377"/>
            <a:ext cx="9250680" cy="8112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10. Categorize employees into salary bands using CASE statement</a:t>
            </a:r>
          </a:p>
          <a:p>
            <a:endParaRPr lang="en-IN" sz="2000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EmployeeNumber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5000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'Band Low'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10000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'Band Mid'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15000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'Band High'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'Band Supreme'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Salary_Band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employee_attrition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				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Majority (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50.1%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fall in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 							Low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under $5,000/month</a:t>
            </a: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IN" sz="20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							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32.7%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in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 Mid</a:t>
            </a: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20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							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5.9%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in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 Supreme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						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earning $15,000+</a:t>
            </a:r>
            <a:endParaRPr lang="en-IN" sz="20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FC790D-6A0F-416E-A002-E8CC5DA70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669004"/>
              </p:ext>
            </p:extLst>
          </p:nvPr>
        </p:nvGraphicFramePr>
        <p:xfrm>
          <a:off x="1600200" y="3429000"/>
          <a:ext cx="5044440" cy="13404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1480">
                  <a:extLst>
                    <a:ext uri="{9D8B030D-6E8A-4147-A177-3AD203B41FA5}">
                      <a16:colId xmlns:a16="http://schemas.microsoft.com/office/drawing/2014/main" val="3745418486"/>
                    </a:ext>
                  </a:extLst>
                </a:gridCol>
                <a:gridCol w="1681480">
                  <a:extLst>
                    <a:ext uri="{9D8B030D-6E8A-4147-A177-3AD203B41FA5}">
                      <a16:colId xmlns:a16="http://schemas.microsoft.com/office/drawing/2014/main" val="3264949230"/>
                    </a:ext>
                  </a:extLst>
                </a:gridCol>
                <a:gridCol w="1681480">
                  <a:extLst>
                    <a:ext uri="{9D8B030D-6E8A-4147-A177-3AD203B41FA5}">
                      <a16:colId xmlns:a16="http://schemas.microsoft.com/office/drawing/2014/main" val="4156226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MonthlyIncome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Salary_Band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183566"/>
                  </a:ext>
                </a:extLst>
              </a:tr>
              <a:tr h="1831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5993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Band Mid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50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5130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Band Mid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823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…..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04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2068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4404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Band Low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8735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4C6507-F792-4753-9655-4BF52C3AD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939983"/>
              </p:ext>
            </p:extLst>
          </p:nvPr>
        </p:nvGraphicFramePr>
        <p:xfrm>
          <a:off x="1600200" y="5172393"/>
          <a:ext cx="5044440" cy="1341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1480">
                  <a:extLst>
                    <a:ext uri="{9D8B030D-6E8A-4147-A177-3AD203B41FA5}">
                      <a16:colId xmlns:a16="http://schemas.microsoft.com/office/drawing/2014/main" val="3433968398"/>
                    </a:ext>
                  </a:extLst>
                </a:gridCol>
                <a:gridCol w="1681480">
                  <a:extLst>
                    <a:ext uri="{9D8B030D-6E8A-4147-A177-3AD203B41FA5}">
                      <a16:colId xmlns:a16="http://schemas.microsoft.com/office/drawing/2014/main" val="3056431269"/>
                    </a:ext>
                  </a:extLst>
                </a:gridCol>
                <a:gridCol w="1681480">
                  <a:extLst>
                    <a:ext uri="{9D8B030D-6E8A-4147-A177-3AD203B41FA5}">
                      <a16:colId xmlns:a16="http://schemas.microsoft.com/office/drawing/2014/main" val="51911650"/>
                    </a:ext>
                  </a:extLst>
                </a:gridCol>
              </a:tblGrid>
              <a:tr h="2156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Salary Band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Range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Count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74591"/>
                  </a:ext>
                </a:extLst>
              </a:tr>
              <a:tr h="2156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Band Low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&lt; $5,000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737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08737"/>
                  </a:ext>
                </a:extLst>
              </a:tr>
              <a:tr h="2156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Band Mid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$5,000 – $9,999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480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937335"/>
                  </a:ext>
                </a:extLst>
              </a:tr>
              <a:tr h="2156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Band High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$10,000 – $14,999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166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061881"/>
                  </a:ext>
                </a:extLst>
              </a:tr>
              <a:tr h="2156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Band Supreme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$15,000+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87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83249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5104FCC-2694-4667-906E-97D56A922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849228"/>
            <a:ext cx="5848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 Band Summary: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643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0CF4-1241-48A4-84BA-49886F3AFBB1}"/>
              </a:ext>
            </a:extLst>
          </p:cNvPr>
          <p:cNvSpPr txBox="1">
            <a:spLocks/>
          </p:cNvSpPr>
          <p:nvPr/>
        </p:nvSpPr>
        <p:spPr>
          <a:xfrm>
            <a:off x="1524000" y="513526"/>
            <a:ext cx="9144000" cy="630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Queries – Advanced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7BE77-974A-4DB6-8487-5B9D7C432BE9}"/>
              </a:ext>
            </a:extLst>
          </p:cNvPr>
          <p:cNvSpPr txBox="1"/>
          <p:nvPr/>
        </p:nvSpPr>
        <p:spPr>
          <a:xfrm>
            <a:off x="1524000" y="1688515"/>
            <a:ext cx="9144000" cy="521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11. Rank employees by salary using window functions.</a:t>
            </a:r>
          </a:p>
          <a:p>
            <a:endParaRPr lang="en-IN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EmployeeNumber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DENSE_RANK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SalaryRank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employee_attrition</a:t>
            </a:r>
            <a:r>
              <a:rPr lang="en-IN" sz="1800" dirty="0"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b="1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N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N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N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	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Rank #1 — Employee #259 with $19,999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	Last Rank #1349 — Employee #701 with $1,009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	Ties observed at several ranks </a:t>
            </a:r>
          </a:p>
          <a:p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0300CD-854F-40C8-A361-7E544519E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399030"/>
              </p:ext>
            </p:extLst>
          </p:nvPr>
        </p:nvGraphicFramePr>
        <p:xfrm>
          <a:off x="1661160" y="3737932"/>
          <a:ext cx="7010400" cy="13404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90869107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3964943482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595800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MonthlyIncome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SalaryRank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831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259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19999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03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1035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19973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972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….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749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701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1009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1349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803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000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F19F6D-FB40-4F50-85B5-51D9A7E6E5A3}"/>
              </a:ext>
            </a:extLst>
          </p:cNvPr>
          <p:cNvSpPr txBox="1"/>
          <p:nvPr/>
        </p:nvSpPr>
        <p:spPr>
          <a:xfrm>
            <a:off x="1341120" y="822325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12. Find second highest salary in each department.</a:t>
            </a:r>
            <a:endParaRPr lang="en-IN" sz="1800" b="1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N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Second_Highest_Salary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DENSE_RANK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Department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employee_attrition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ranked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IN" sz="1800" dirty="0"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9E3C6E-0544-46B3-918D-D7D030C34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505211"/>
              </p:ext>
            </p:extLst>
          </p:nvPr>
        </p:nvGraphicFramePr>
        <p:xfrm>
          <a:off x="1844040" y="3429000"/>
          <a:ext cx="7894320" cy="1198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31440">
                  <a:extLst>
                    <a:ext uri="{9D8B030D-6E8A-4147-A177-3AD203B41FA5}">
                      <a16:colId xmlns:a16="http://schemas.microsoft.com/office/drawing/2014/main" val="4286716499"/>
                    </a:ext>
                  </a:extLst>
                </a:gridCol>
                <a:gridCol w="2564124">
                  <a:extLst>
                    <a:ext uri="{9D8B030D-6E8A-4147-A177-3AD203B41FA5}">
                      <a16:colId xmlns:a16="http://schemas.microsoft.com/office/drawing/2014/main" val="1811209592"/>
                    </a:ext>
                  </a:extLst>
                </a:gridCol>
                <a:gridCol w="2698756">
                  <a:extLst>
                    <a:ext uri="{9D8B030D-6E8A-4147-A177-3AD203B41FA5}">
                      <a16:colId xmlns:a16="http://schemas.microsoft.com/office/drawing/2014/main" val="1298363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EmployeeNumber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Second_Highest_Salary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149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1625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19,658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176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1035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19,973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1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1038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19,845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54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74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D903E-6A8A-4B50-B3F6-3547F07B32C1}"/>
              </a:ext>
            </a:extLst>
          </p:cNvPr>
          <p:cNvSpPr txBox="1"/>
          <p:nvPr/>
        </p:nvSpPr>
        <p:spPr>
          <a:xfrm>
            <a:off x="1470660" y="514162"/>
            <a:ext cx="9250680" cy="6359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 Create a view for high attrition risk employees.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CREATE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VIEW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high_attrition_risk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EmployeeNumber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Department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JobRole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MonthlyIncome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JobSatisfaction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EnvironmentSatisfaction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WorkLifeBalance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JobInvolvement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YearsSinceLastPromotion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NumCompaniesWorked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WHERE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OverTime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AND </a:t>
            </a:r>
            <a:r>
              <a:rPr lang="en-IN" sz="1800" dirty="0" err="1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PerformanceRating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&lt;=2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AND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JobSatisfaction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AND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EnvironmentSatisfaction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AND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WorkLifeBalance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AND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AND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JobInvolvement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AND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MonthlyIncome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3000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AND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NumCompaniesWorked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&gt;=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4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To run this view: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 FROM </a:t>
            </a:r>
            <a:r>
              <a:rPr lang="en-IN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high_attrition_risk</a:t>
            </a:r>
            <a:r>
              <a:rPr lang="en-IN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6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455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0F726B-20A5-4A88-8620-40294A1B4F9A}"/>
              </a:ext>
            </a:extLst>
          </p:cNvPr>
          <p:cNvSpPr txBox="1"/>
          <p:nvPr/>
        </p:nvSpPr>
        <p:spPr>
          <a:xfrm>
            <a:off x="1325880" y="381220"/>
            <a:ext cx="9540240" cy="114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14.Write a stored procedure to return attrition summary.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CD25B1-A92B-46F5-B591-663B3E808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880" y="781325"/>
            <a:ext cx="9296400" cy="596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DELIMITER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$$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CREATE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PROCEDURE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GetAttritionSummary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BEGIN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-- 1. Overall Summary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Total_Attrited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*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100.0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/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Overall_Attrition_Rate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-- 2. Attrition by Department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Department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*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100.0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/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GROUP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Department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DESC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-- 3. Attrition by Gender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Gender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*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100.0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/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GROUP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Gender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DESC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585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1C190-E274-490E-B486-B7914A95B61F}"/>
              </a:ext>
            </a:extLst>
          </p:cNvPr>
          <p:cNvSpPr txBox="1"/>
          <p:nvPr/>
        </p:nvSpPr>
        <p:spPr>
          <a:xfrm>
            <a:off x="1554480" y="889843"/>
            <a:ext cx="90830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-- 4. Attrition by Age Group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Age &lt;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'Under 25'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Age BETWEEN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34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'25-34'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Age BETWEEN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35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44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'35-44'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Age BETWEEN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45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54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'45-54'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'55+'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Age_Group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*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100.0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/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Age_Group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DESC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8718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0B49A4-FBE4-4E17-AE3F-F4BC8ADC2BB9}"/>
              </a:ext>
            </a:extLst>
          </p:cNvPr>
          <p:cNvSpPr txBox="1"/>
          <p:nvPr/>
        </p:nvSpPr>
        <p:spPr>
          <a:xfrm>
            <a:off x="1706880" y="182106"/>
            <a:ext cx="8930640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-- 5. Attrition by Job Role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JobRole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*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100.0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/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JobRole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DESC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-- 6. Avg Income: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E7687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vs Retained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Attrition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MonthlyIncome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Avg_Monthly_Income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Avg_Age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Avg_Years_At_Company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$$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DELIMITER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dirty="0">
              <a:solidFill>
                <a:srgbClr val="2B303B"/>
              </a:solidFill>
              <a:latin typeface="var(--font-mono)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calling the procedure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GetAttritionSummary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371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0FE2056-26D7-4C15-B1A8-5D95A895E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123432"/>
              </p:ext>
            </p:extLst>
          </p:nvPr>
        </p:nvGraphicFramePr>
        <p:xfrm>
          <a:off x="1432560" y="918569"/>
          <a:ext cx="9326880" cy="474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3720">
                  <a:extLst>
                    <a:ext uri="{9D8B030D-6E8A-4147-A177-3AD203B41FA5}">
                      <a16:colId xmlns:a16="http://schemas.microsoft.com/office/drawing/2014/main" val="3053417935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982697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3357140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Total_Employees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Total_Attrited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Overall_Attrition_Rate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98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1470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237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16.12%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17963"/>
                  </a:ext>
                </a:extLst>
              </a:tr>
            </a:tbl>
          </a:graphicData>
        </a:graphic>
      </p:graphicFrame>
      <p:sp>
        <p:nvSpPr>
          <p:cNvPr id="22" name="Rectangle 14">
            <a:extLst>
              <a:ext uri="{FF2B5EF4-FFF2-40B4-BE49-F238E27FC236}">
                <a16:creationId xmlns:a16="http://schemas.microsoft.com/office/drawing/2014/main" id="{63E9924A-A744-4468-98E4-CE08D63A3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4714"/>
            <a:ext cx="694944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Set 1 — Overall Summary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034FA1-9020-4C1F-A41F-3310C2222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08858"/>
              </p:ext>
            </p:extLst>
          </p:nvPr>
        </p:nvGraphicFramePr>
        <p:xfrm>
          <a:off x="1432560" y="1953264"/>
          <a:ext cx="9326880" cy="948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107913084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1750366446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997569019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772060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Department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Total_Employees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Attrited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Attrition_Rate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77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446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92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20.63%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116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63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19.05%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16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&amp; Development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961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133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13.84%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432282"/>
                  </a:ext>
                </a:extLst>
              </a:tr>
            </a:tbl>
          </a:graphicData>
        </a:graphic>
      </p:graphicFrame>
      <p:sp>
        <p:nvSpPr>
          <p:cNvPr id="24" name="Rectangle 15">
            <a:extLst>
              <a:ext uri="{FF2B5EF4-FFF2-40B4-BE49-F238E27FC236}">
                <a16:creationId xmlns:a16="http://schemas.microsoft.com/office/drawing/2014/main" id="{351327A7-1DB3-43F9-A8B7-3B5E87AA8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645487"/>
            <a:ext cx="745236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Set 2 — Attrition by Department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656FD6D-C6AE-4137-BE21-6B3654CE6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448958"/>
              </p:ext>
            </p:extLst>
          </p:nvPr>
        </p:nvGraphicFramePr>
        <p:xfrm>
          <a:off x="1432560" y="3588348"/>
          <a:ext cx="9326880" cy="7117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17320677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563248205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168509394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7418542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Gender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Total_Employees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Attrited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Attrition_Rate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991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Male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882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150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17.01%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19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Female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588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87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14.80%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139700"/>
                  </a:ext>
                </a:extLst>
              </a:tr>
            </a:tbl>
          </a:graphicData>
        </a:graphic>
      </p:graphicFrame>
      <p:sp>
        <p:nvSpPr>
          <p:cNvPr id="27" name="Rectangle 17">
            <a:extLst>
              <a:ext uri="{FF2B5EF4-FFF2-40B4-BE49-F238E27FC236}">
                <a16:creationId xmlns:a16="http://schemas.microsoft.com/office/drawing/2014/main" id="{176C9A98-BFE8-48DA-A96D-77770198E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120" y="3280571"/>
            <a:ext cx="897636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Set 3 — Attrition by Gender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045B816-8426-44C2-9E97-86EFBD4A5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163559"/>
              </p:ext>
            </p:extLst>
          </p:nvPr>
        </p:nvGraphicFramePr>
        <p:xfrm>
          <a:off x="1386840" y="4919626"/>
          <a:ext cx="9433560" cy="14234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8390">
                  <a:extLst>
                    <a:ext uri="{9D8B030D-6E8A-4147-A177-3AD203B41FA5}">
                      <a16:colId xmlns:a16="http://schemas.microsoft.com/office/drawing/2014/main" val="1479085405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2735680940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3510173851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3629638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Age_Group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Total_Employees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Attrited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Attrition_Rate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367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Under 25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97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38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39.18%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90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25-34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554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112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20.22%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6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55+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69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11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15.94%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150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45-54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245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25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10.20%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80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35-44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505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51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10.10%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436"/>
                  </a:ext>
                </a:extLst>
              </a:tr>
            </a:tbl>
          </a:graphicData>
        </a:graphic>
      </p:graphicFrame>
      <p:sp>
        <p:nvSpPr>
          <p:cNvPr id="29" name="Rectangle 18">
            <a:extLst>
              <a:ext uri="{FF2B5EF4-FFF2-40B4-BE49-F238E27FC236}">
                <a16:creationId xmlns:a16="http://schemas.microsoft.com/office/drawing/2014/main" id="{6765A852-022F-4DD9-841E-A365B894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881" y="4592444"/>
            <a:ext cx="88696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Set 4 — Attrition by Age Group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D0559C-2302-4FFB-8B4E-73C700FCD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701053"/>
              </p:ext>
            </p:extLst>
          </p:nvPr>
        </p:nvGraphicFramePr>
        <p:xfrm>
          <a:off x="731520" y="719929"/>
          <a:ext cx="10515600" cy="2683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711632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83500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823687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16402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JobRole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Total_Employees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Attrited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Attrition_Rate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827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 Representative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83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33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39.76%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1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Laboratory Technician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259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23.94%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84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Human Resources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23.08%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23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Sales Executive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326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57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17.48%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1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Scientist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292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47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16.10%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47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Manufacturing Director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145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6.90%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69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Healthcare Representative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131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6.87%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956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Manager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4.90%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48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Research Director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80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n-IN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2.50%</a:t>
                      </a:r>
                      <a:endParaRPr lang="en-IN" sz="14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22683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442A4AF-22E3-4BE4-8A08-CF0670035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325701"/>
            <a:ext cx="902208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Set 5 — Attrition by Job Role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AEBFA6-B871-45C8-8F26-8FEC30C5F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53143"/>
              </p:ext>
            </p:extLst>
          </p:nvPr>
        </p:nvGraphicFramePr>
        <p:xfrm>
          <a:off x="731520" y="4120260"/>
          <a:ext cx="10515600" cy="7117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795384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0171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16749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4819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Status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Avg_Monthly_Income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Avg_Age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Avg_Years_At_Company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211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No (Retained)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6,832.74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37.6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7.4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03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Yes (Attrited)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4,787.09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33.6</a:t>
                      </a:r>
                      <a:endParaRPr lang="en-IN" sz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5.1</a:t>
                      </a: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30628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E683E90C-144E-44DC-8540-93C282244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3722383"/>
            <a:ext cx="42413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Set 6 — Avg Income: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Attrited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vs Retained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EC869-98E7-41A7-B265-3F52EB683FFE}"/>
              </a:ext>
            </a:extLst>
          </p:cNvPr>
          <p:cNvSpPr txBox="1"/>
          <p:nvPr/>
        </p:nvSpPr>
        <p:spPr>
          <a:xfrm>
            <a:off x="731520" y="5092338"/>
            <a:ext cx="10408920" cy="1570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Representatives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have the highest attrition at </a:t>
            </a: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39.76%</a:t>
            </a:r>
            <a:endParaRPr lang="en-IN" sz="16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25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age group is the most at-risk at </a:t>
            </a: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39.18%</a:t>
            </a:r>
            <a:endParaRPr lang="en-IN" sz="16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 err="1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Attrited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employees earned </a:t>
            </a: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~$2,045 less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average than retained ones</a:t>
            </a:r>
            <a:endParaRPr lang="en-IN" sz="16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Males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have slightly higher attrition than females</a:t>
            </a:r>
            <a:endParaRPr lang="en-IN" sz="16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247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45D31-A32B-4DC0-99B2-A51FCA995922}"/>
              </a:ext>
            </a:extLst>
          </p:cNvPr>
          <p:cNvSpPr txBox="1"/>
          <p:nvPr/>
        </p:nvSpPr>
        <p:spPr>
          <a:xfrm>
            <a:off x="1417320" y="422722"/>
            <a:ext cx="9204960" cy="6359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 Use CTE to calculate tenure distribution.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WITH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TenureBands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EmployeeNumber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Department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JobRole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'0-1 Years'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3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'2-3 Years'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'4-5 Years'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'6-10 Years'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&lt;= </a:t>
            </a:r>
            <a:r>
              <a:rPr lang="en-IN" sz="18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20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'11-20 Years'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'20+ Years'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Tenure_Band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8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8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employee_attrition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lang="en-IN" sz="18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endParaRPr lang="en-IN" sz="16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283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585EF-7C48-4AC7-9965-EABE2EB65542}"/>
              </a:ext>
            </a:extLst>
          </p:cNvPr>
          <p:cNvSpPr txBox="1"/>
          <p:nvPr/>
        </p:nvSpPr>
        <p:spPr>
          <a:xfrm>
            <a:off x="1752600" y="-47304"/>
            <a:ext cx="9113520" cy="609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TenureSummary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Tenure_Band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600" dirty="0"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600" dirty="0"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lang="en-IN" sz="16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600" dirty="0"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600" dirty="0"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SUM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WHEN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Attrition = </a:t>
            </a:r>
            <a:r>
              <a:rPr lang="en-IN" sz="1600" dirty="0">
                <a:solidFill>
                  <a:srgbClr val="00800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'Yes'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THEN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END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* </a:t>
            </a:r>
            <a:r>
              <a:rPr lang="en-IN" sz="16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100.0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/ </a:t>
            </a:r>
            <a:r>
              <a:rPr lang="en-IN" sz="1600" dirty="0"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en-IN" sz="1600" dirty="0"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ROUND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600" dirty="0">
                <a:solidFill>
                  <a:srgbClr val="0051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YearsAtCompany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),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008080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Avg_Years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TenureBands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GROUP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Tenure_Band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SELECT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Tenure_Band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Total_Employees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-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Attrited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Retained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Attrition_Rate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Avg_Years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TenureSummary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ORDER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>
                <a:solidFill>
                  <a:srgbClr val="8100C2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BY</a:t>
            </a:r>
            <a:r>
              <a:rPr lang="en-IN" sz="1600" dirty="0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600" dirty="0" err="1">
                <a:solidFill>
                  <a:srgbClr val="14181F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Avg_Years</a:t>
            </a:r>
            <a:r>
              <a:rPr lang="en-IN" sz="1600" dirty="0">
                <a:solidFill>
                  <a:srgbClr val="2B303B"/>
                </a:solidFill>
                <a:effectLst/>
                <a:latin typeface="var(--font-mono)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209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DE37BD-A28E-4D78-BA6C-259FD0B5D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41394"/>
              </p:ext>
            </p:extLst>
          </p:nvPr>
        </p:nvGraphicFramePr>
        <p:xfrm>
          <a:off x="1181100" y="914400"/>
          <a:ext cx="9829800" cy="22709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387635282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43610435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32334971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956301809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16012365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720729459"/>
                    </a:ext>
                  </a:extLst>
                </a:gridCol>
              </a:tblGrid>
              <a:tr h="3244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Tenure_Band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Total_Employees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Attrited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Retained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Attrition_Rate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Avg_Years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159039"/>
                  </a:ext>
                </a:extLst>
              </a:tr>
              <a:tr h="3244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0-1 Years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215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75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140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34.88%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0.8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83464"/>
                  </a:ext>
                </a:extLst>
              </a:tr>
              <a:tr h="3244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2-3 Years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255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47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18.43%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2.5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31019"/>
                  </a:ext>
                </a:extLst>
              </a:tr>
              <a:tr h="3244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4-5 Years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306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40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266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13.07%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4.6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740655"/>
                  </a:ext>
                </a:extLst>
              </a:tr>
              <a:tr h="3244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6-10 Years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448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55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393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12.28%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8.2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242646"/>
                  </a:ext>
                </a:extLst>
              </a:tr>
              <a:tr h="3244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11-20 Years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180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168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6.67%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15.1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0845"/>
                  </a:ext>
                </a:extLst>
              </a:tr>
              <a:tr h="3244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20+ Years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66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58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12.12%</a:t>
                      </a:r>
                      <a:endParaRPr lang="en-IN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25.7</a:t>
                      </a:r>
                      <a:endParaRPr lang="en-IN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2016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C7AD60-1B37-4AA1-A4BE-0108D4C0B8D3}"/>
              </a:ext>
            </a:extLst>
          </p:cNvPr>
          <p:cNvSpPr txBox="1"/>
          <p:nvPr/>
        </p:nvSpPr>
        <p:spPr>
          <a:xfrm>
            <a:off x="1181100" y="3672649"/>
            <a:ext cx="10203180" cy="1701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0-1 Years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 most critical band —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34.88% attrition rate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 in 3 new employees leave!)</a:t>
            </a:r>
            <a:endParaRPr lang="en-IN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Attrition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drops steadily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tenure increases</a:t>
            </a:r>
            <a:endParaRPr lang="en-IN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11-20 Years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 most loyal group at only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6.67%</a:t>
            </a:r>
            <a:endParaRPr lang="en-IN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20+ Year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veterans still show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12.12%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possibly retirement or career change</a:t>
            </a:r>
            <a:endParaRPr lang="en-IN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280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E810-3AF3-4403-820C-597AD6695219}"/>
              </a:ext>
            </a:extLst>
          </p:cNvPr>
          <p:cNvSpPr txBox="1">
            <a:spLocks/>
          </p:cNvSpPr>
          <p:nvPr/>
        </p:nvSpPr>
        <p:spPr>
          <a:xfrm>
            <a:off x="1524000" y="498286"/>
            <a:ext cx="9144000" cy="630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AI-Assisted SQL Tool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DE926-F8AB-470D-AAE6-6224735C443C}"/>
              </a:ext>
            </a:extLst>
          </p:cNvPr>
          <p:cNvSpPr txBox="1"/>
          <p:nvPr/>
        </p:nvSpPr>
        <p:spPr>
          <a:xfrm>
            <a:off x="1676400" y="1686839"/>
            <a:ext cx="9144000" cy="3726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1.Does the AI correctly convert natural language into accurate SQL?</a:t>
            </a:r>
            <a:endParaRPr lang="en-IN" sz="2000" dirty="0"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u="none" strike="noStrike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000" dirty="0"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Yes, mostly.</a:t>
            </a:r>
          </a:p>
          <a:p>
            <a:endParaRPr lang="en-IN" sz="2000" dirty="0"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Text-to-SQL AI tools correctly convert natural language into accurate SQL for </a:t>
            </a: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common and straightforward queries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like filtering, grouping, aggregations, and joins. However, accuracy drops for: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Complex queries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— multi-level CTEs, nested subqueries, window functions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Ambiguous phrasing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— e.g., </a:t>
            </a:r>
            <a:r>
              <a:rPr lang="en-IN" sz="2000" i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"top employees"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(top by what?)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Domain-specific logic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— business rules the AI isn't aware of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Large schemas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— too many tables/columns can confuse context</a:t>
            </a:r>
          </a:p>
        </p:txBody>
      </p:sp>
    </p:spTree>
    <p:extLst>
      <p:ext uri="{BB962C8B-B14F-4D97-AF65-F5344CB8AC3E}">
        <p14:creationId xmlns:p14="http://schemas.microsoft.com/office/powerpoint/2010/main" val="904077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13656A-0C84-4798-9891-E263C10BB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737743"/>
            <a:ext cx="995172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2.Can it generate GROUP BY and HAVING queries properly?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Yes, reliably.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Text-to-SQL AI handles GROUP BY and HAVING well in most cases: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GROUP 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correctly groups by single or multiple columns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HAVING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properly filters aggregated results (e.g., HAVING COUNT(*) &gt; 5)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Combined with ORDER BY, LIMIT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generally handled well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Aggregate functions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COUNT(), SUM(), AVG(), MIN(), MAX() with GROUP BY work accurately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Where it may struggle: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HAVING with complex subqueries inside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Grouping on derived/calculated columns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When user phrasing is vague — e.g.,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"show departments with many employees"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(how many is "many"?)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669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5770E1-561C-4734-A2D8-AD95BF8A0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220" y="766732"/>
            <a:ext cx="943356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3.Does it support advanced queries (CTE, Window Functions)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Yes, but with limitations.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Text-to-SQL AI supports advanced queries, but accuracy varies by complexity: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CTEs: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Simple single CTEs generated well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Chained/multiple CTEs mostly handled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Recursive CTEs — often incorrect or skipped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Window Functions: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ROW_NUMBER(), RANK(), DENSE_RANK() — generally accurate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PARTITION BY + ORDER BY combinations — mostly correct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Complex frames like ROWS BETWEEN UNBOUNDED PRECEDING AND CURRENT ROW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Multiple window functions in a single query — prone to errors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48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CB60EA-47F3-4BAC-A3BF-FC424BCB3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" y="197348"/>
            <a:ext cx="11460480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4.Are AI-generated queries optimized?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Not always.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AI-generated queries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functionally correct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but not always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performance optimized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Common Optimization Issues: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 index awareness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AI doesn't know which columns are indexed, may filter on non-indexed columns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SELECT *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AI often generates SELECT * instead of selecting only needed columns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Subqueries over JOINs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tends to use correlated subqueries where a JOIN would be faster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Missing LIMIT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doesn't add LIMIT on large table scans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Redundant calculations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may repeat the same expression instead of referencing an alias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What It Does Well: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Avoids obvious anti-patterns like SELECT DISTINCT unnecessarily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Uses aggregate functions correctly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Generally avoids SELECT * in aggregation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Who Should Optimize?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DBA or senior developer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should review AI-generated queries before running on production databases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Tools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EXPLAIN / EXPLAIN ANALYZE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should be used to check query execution plans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769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B2B621-0510-4649-BABB-D55A19B4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921" y="57031"/>
            <a:ext cx="9982199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5.Does it hallucinate incorrect column names?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Yes, occasionally.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Hallucinating column names is one of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most common failure points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of Text-to-SQL AI: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When Hallucination Happens: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Schema not provided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AI guesses column names based on training data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Ambiguous table names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e.g., asks for "employee age", AI may generate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emp_age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instead of Age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Large schemas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too many tables/columns, AI loses track of exact names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Abbreviations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AI may expand dept to Department or vice versa incorrectly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❌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Similar column names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— confuses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MonthlyIncome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vs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MonthlyRate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vs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DailyRate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When It's More Accurate: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Schema is explicitly provided in the prompt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Column names are descriptive and common (e.g., id, name, date)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Fewer tables and columns in context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✅ User mentions exact column names in the question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Real Example from This Dataset: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Asked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"show salary"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→ AI might generate Salary instead of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MonthlyIncome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❌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Asked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"show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MonthlyIncome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→ AI gets it right 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How to Reduce Hallucination: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Always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provide schema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(DESCRIBE output) to the AI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Use exact column names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in the natural language question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Always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validate generated SQL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before executing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034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4F529-204B-4771-A0F5-0616892D4704}"/>
              </a:ext>
            </a:extLst>
          </p:cNvPr>
          <p:cNvSpPr/>
          <p:nvPr/>
        </p:nvSpPr>
        <p:spPr>
          <a:xfrm>
            <a:off x="1729740" y="2505670"/>
            <a:ext cx="873252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3663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3167</Words>
  <Application>Microsoft Office PowerPoint</Application>
  <PresentationFormat>Widescreen</PresentationFormat>
  <Paragraphs>678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Arial Rounded MT Bold</vt:lpstr>
      <vt:lpstr>Bahnschrift</vt:lpstr>
      <vt:lpstr>Calibri</vt:lpstr>
      <vt:lpstr>Calibri Light</vt:lpstr>
      <vt:lpstr>Cooper Black</vt:lpstr>
      <vt:lpstr>Courier New</vt:lpstr>
      <vt:lpstr>Segoe UI Emoji</vt:lpstr>
      <vt:lpstr>Symbol</vt:lpstr>
      <vt:lpstr>Times New Roman</vt:lpstr>
      <vt:lpstr>var(--font-mono)</vt:lpstr>
      <vt:lpstr>Office Theme</vt:lpstr>
      <vt:lpstr>Employee Attrition &amp; Performance Analysis  Using MySQL</vt:lpstr>
      <vt:lpstr> PROJECT OBJECTIVE </vt:lpstr>
      <vt:lpstr> DATASET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HR ANALYTICS   EMPLOYEE ATTRITION &amp; PERFORMANCE    WITH MYSQL</dc:title>
  <dc:creator>ADMIN</dc:creator>
  <cp:lastModifiedBy>ADMIN</cp:lastModifiedBy>
  <cp:revision>84</cp:revision>
  <dcterms:created xsi:type="dcterms:W3CDTF">2026-05-18T14:02:19Z</dcterms:created>
  <dcterms:modified xsi:type="dcterms:W3CDTF">2026-05-20T04:31:15Z</dcterms:modified>
</cp:coreProperties>
</file>